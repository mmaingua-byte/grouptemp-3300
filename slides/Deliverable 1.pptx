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ed Hat Display SemiBold"/>
      <p:regular r:id="rId12"/>
      <p:bold r:id="rId13"/>
      <p:italic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  <p:embeddedFont>
      <p:font typeface="Red Hat Display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-regular.fntdata"/><Relationship Id="rId22" Type="http://schemas.openxmlformats.org/officeDocument/2006/relationships/font" Target="fonts/RedHatDisplay-italic.fntdata"/><Relationship Id="rId21" Type="http://schemas.openxmlformats.org/officeDocument/2006/relationships/font" Target="fonts/RedHatDisplay-bold.fntdata"/><Relationship Id="rId23" Type="http://schemas.openxmlformats.org/officeDocument/2006/relationships/font" Target="fonts/RedHat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edHatDisplaySemiBold-bold.fntdata"/><Relationship Id="rId12" Type="http://schemas.openxmlformats.org/officeDocument/2006/relationships/font" Target="fonts/RedHatDisplaySemiBold-regular.fntdata"/><Relationship Id="rId15" Type="http://schemas.openxmlformats.org/officeDocument/2006/relationships/font" Target="fonts/RedHatDisplaySemiBold-boldItalic.fntdata"/><Relationship Id="rId14" Type="http://schemas.openxmlformats.org/officeDocument/2006/relationships/font" Target="fonts/RedHatDisplaySemiBold-italic.fntdata"/><Relationship Id="rId17" Type="http://schemas.openxmlformats.org/officeDocument/2006/relationships/font" Target="fonts/RedHatDisplayMedium-bold.fntdata"/><Relationship Id="rId16" Type="http://schemas.openxmlformats.org/officeDocument/2006/relationships/font" Target="fonts/RedHatDisplayMedium-regular.fntdata"/><Relationship Id="rId19" Type="http://schemas.openxmlformats.org/officeDocument/2006/relationships/font" Target="fonts/RedHatDisplayMedium-boldItalic.fntdata"/><Relationship Id="rId18" Type="http://schemas.openxmlformats.org/officeDocument/2006/relationships/font" Target="fonts/RedHatDisplay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fd3440b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bfd3440b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d3440b7f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fd3440b7f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fd3440b7f_0_1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fd3440b7f_0_1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d3440b7f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fd3440b7f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fd3440b7f_0_1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bfd3440b7f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d3440b7f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bfd3440b7f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7.jp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228600" y="2160700"/>
            <a:ext cx="5292300" cy="1926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Impact"/>
                <a:ea typeface="Impact"/>
                <a:cs typeface="Impact"/>
                <a:sym typeface="Impact"/>
              </a:rPr>
              <a:t>Group Temp </a:t>
            </a:r>
            <a:endParaRPr sz="60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Impact"/>
                <a:ea typeface="Impact"/>
                <a:cs typeface="Impact"/>
                <a:sym typeface="Impact"/>
              </a:rPr>
              <a:t>Project Proposal</a:t>
            </a:r>
            <a:endParaRPr sz="60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228600" y="4151875"/>
            <a:ext cx="5592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AWS Project -  AI Voice Agent</a:t>
            </a:r>
            <a:endParaRPr b="1" sz="2100">
              <a:solidFill>
                <a:schemeClr val="accen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50" name="Google Shape;55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25" y="228591"/>
            <a:ext cx="2434976" cy="186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4938" y="4151875"/>
            <a:ext cx="728025" cy="7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 txBox="1"/>
          <p:nvPr>
            <p:ph type="title"/>
          </p:nvPr>
        </p:nvSpPr>
        <p:spPr>
          <a:xfrm>
            <a:off x="228600" y="420025"/>
            <a:ext cx="86868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Team Temp</a:t>
            </a:r>
            <a:endParaRPr b="1" sz="4000"/>
          </a:p>
        </p:txBody>
      </p:sp>
      <p:sp>
        <p:nvSpPr>
          <p:cNvPr id="557" name="Google Shape;557;p44"/>
          <p:cNvSpPr txBox="1"/>
          <p:nvPr/>
        </p:nvSpPr>
        <p:spPr>
          <a:xfrm>
            <a:off x="451950" y="1251925"/>
            <a:ext cx="8240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Team Members: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Madina Maingua - Team Lead; Front-End Developer 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Sayed Babiker - Front-End Developer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Chukwudera Duru - Back-End Developer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Nathaniel Joseph - Front-End Developer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Alvin Ododa - </a:t>
            </a: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Back-End Developer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Yashwanth Pentakota - Risk Management / Front - End Developer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5"/>
          <p:cNvSpPr txBox="1"/>
          <p:nvPr>
            <p:ph type="title"/>
          </p:nvPr>
        </p:nvSpPr>
        <p:spPr>
          <a:xfrm>
            <a:off x="3154650" y="163356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Description</a:t>
            </a:r>
            <a:endParaRPr b="1"/>
          </a:p>
        </p:txBody>
      </p:sp>
      <p:sp>
        <p:nvSpPr>
          <p:cNvPr id="563" name="Google Shape;563;p45"/>
          <p:cNvSpPr txBox="1"/>
          <p:nvPr>
            <p:ph idx="1" type="subTitle"/>
          </p:nvPr>
        </p:nvSpPr>
        <p:spPr>
          <a:xfrm>
            <a:off x="2329800" y="751050"/>
            <a:ext cx="6585600" cy="3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AI Voice Agent Platform is a cloud-based system designed to enable real-time, voice-driven interactions with an AI assistant. The project focuses on building a scalable and reliable backend architecture capable of processing spoken input, maintaining conversational context, and generating appropriate responses across multiple turns of dialogue.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system is implemented using Amazon Web Services (AWS). API Gateway handles incoming requests, while AWS Lambda functions orchestrate speech processing and AI inference within an event-driven workflow. DynamoDB is used to store session and conversation state, allowing the agent to maintain context across user interactions rather than treating each request independently.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key goal of the project is to explore real-world backend engineering challenges, including low-latency response handling, fault tolerance, and system observability. To address these challenges, the platform incorporates structured logging, request timeouts, and retry and fallback mechanisms to improve reliability under error conditions.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6"/>
          <p:cNvSpPr txBox="1"/>
          <p:nvPr>
            <p:ph type="title"/>
          </p:nvPr>
        </p:nvSpPr>
        <p:spPr>
          <a:xfrm>
            <a:off x="1783047" y="46200"/>
            <a:ext cx="5671800" cy="82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Project Schedule (PERT Chart)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9" name="Google Shape;569;p46" title="Screenshot 2026-02-01 at 11.01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13" y="760125"/>
            <a:ext cx="3472376" cy="41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6"/>
          <p:cNvSpPr txBox="1"/>
          <p:nvPr/>
        </p:nvSpPr>
        <p:spPr>
          <a:xfrm>
            <a:off x="4164875" y="616400"/>
            <a:ext cx="4824600" cy="4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B6D7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goals and requirements are determined.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93C4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AWS service and AI voice component integration design is created.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Setup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Lambda, API Gateway, and DynamoDB setup is completed.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Development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backend programming using Python is done.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93C4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Voice Integration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speech-to-text and text-to-speech functionality is added.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B6D7A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B6D7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Integration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infrastructure, backend, and AI voice system integration is completed.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D9EA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is tested, and problems are solved.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D9EAD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AI voice agent is deployed.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Red Hat Display"/>
              <a:buChar char="★"/>
            </a:pPr>
            <a:r>
              <a:rPr b="1" lang="en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Tasks are connected when there is a dependency between them. AWS setup and Lambda development will be assigned together  after the architecture step, then come together at the system integration step before testing and deployment.</a:t>
            </a:r>
            <a:endParaRPr b="1" sz="110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7"/>
          <p:cNvSpPr txBox="1"/>
          <p:nvPr/>
        </p:nvSpPr>
        <p:spPr>
          <a:xfrm>
            <a:off x="827425" y="2348350"/>
            <a:ext cx="389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6" name="Google Shape;576;p47"/>
          <p:cNvCxnSpPr>
            <a:endCxn id="577" idx="3"/>
          </p:cNvCxnSpPr>
          <p:nvPr/>
        </p:nvCxnSpPr>
        <p:spPr>
          <a:xfrm>
            <a:off x="-5600" y="3858050"/>
            <a:ext cx="83877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7"/>
          <p:cNvCxnSpPr/>
          <p:nvPr/>
        </p:nvCxnSpPr>
        <p:spPr>
          <a:xfrm>
            <a:off x="684126" y="2572600"/>
            <a:ext cx="7059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7"/>
          <p:cNvCxnSpPr/>
          <p:nvPr/>
        </p:nvCxnSpPr>
        <p:spPr>
          <a:xfrm>
            <a:off x="3976400" y="1283824"/>
            <a:ext cx="0" cy="1292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7"/>
          <p:cNvCxnSpPr/>
          <p:nvPr/>
        </p:nvCxnSpPr>
        <p:spPr>
          <a:xfrm>
            <a:off x="2672937" y="1287123"/>
            <a:ext cx="0" cy="3860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7"/>
          <p:cNvCxnSpPr/>
          <p:nvPr/>
        </p:nvCxnSpPr>
        <p:spPr>
          <a:xfrm>
            <a:off x="5211550" y="1287125"/>
            <a:ext cx="0" cy="3860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7"/>
          <p:cNvCxnSpPr/>
          <p:nvPr/>
        </p:nvCxnSpPr>
        <p:spPr>
          <a:xfrm flipH="1">
            <a:off x="7748050" y="1930470"/>
            <a:ext cx="6300" cy="1927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47"/>
          <p:cNvSpPr/>
          <p:nvPr/>
        </p:nvSpPr>
        <p:spPr>
          <a:xfrm>
            <a:off x="5757124" y="1287100"/>
            <a:ext cx="768300" cy="1285500"/>
          </a:xfrm>
          <a:prstGeom prst="snip2DiagRect">
            <a:avLst>
              <a:gd fmla="val 0" name="adj1"/>
              <a:gd fmla="val 4828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4" name="Google Shape;584;p47"/>
          <p:cNvSpPr/>
          <p:nvPr/>
        </p:nvSpPr>
        <p:spPr>
          <a:xfrm>
            <a:off x="5211695" y="1287100"/>
            <a:ext cx="544200" cy="12855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5" name="Google Shape;585;p47"/>
          <p:cNvSpPr/>
          <p:nvPr/>
        </p:nvSpPr>
        <p:spPr>
          <a:xfrm>
            <a:off x="684124" y="1287100"/>
            <a:ext cx="768300" cy="1285500"/>
          </a:xfrm>
          <a:prstGeom prst="snip2DiagRect">
            <a:avLst>
              <a:gd fmla="val 0" name="adj1"/>
              <a:gd fmla="val 4828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6" name="Google Shape;586;p47"/>
          <p:cNvSpPr/>
          <p:nvPr/>
        </p:nvSpPr>
        <p:spPr>
          <a:xfrm>
            <a:off x="138695" y="1287100"/>
            <a:ext cx="544200" cy="12855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7" name="Google Shape;587;p47"/>
          <p:cNvSpPr/>
          <p:nvPr/>
        </p:nvSpPr>
        <p:spPr>
          <a:xfrm>
            <a:off x="3216474" y="2572600"/>
            <a:ext cx="768300" cy="1285500"/>
          </a:xfrm>
          <a:prstGeom prst="snip2DiagRect">
            <a:avLst>
              <a:gd fmla="val 0" name="adj1"/>
              <a:gd fmla="val 4828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8" name="Google Shape;588;p47"/>
          <p:cNvSpPr/>
          <p:nvPr/>
        </p:nvSpPr>
        <p:spPr>
          <a:xfrm>
            <a:off x="2671045" y="2572600"/>
            <a:ext cx="544200" cy="12855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9" name="Google Shape;589;p47"/>
          <p:cNvSpPr/>
          <p:nvPr/>
        </p:nvSpPr>
        <p:spPr>
          <a:xfrm>
            <a:off x="2418550" y="2572600"/>
            <a:ext cx="256500" cy="279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590" name="Google Shape;590;p47"/>
          <p:cNvCxnSpPr/>
          <p:nvPr/>
        </p:nvCxnSpPr>
        <p:spPr>
          <a:xfrm flipH="1" rot="10800000">
            <a:off x="688600" y="1284420"/>
            <a:ext cx="6449100" cy="2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47"/>
          <p:cNvSpPr/>
          <p:nvPr/>
        </p:nvSpPr>
        <p:spPr>
          <a:xfrm>
            <a:off x="7748050" y="3858050"/>
            <a:ext cx="1268100" cy="1278900"/>
          </a:xfrm>
          <a:prstGeom prst="snip2DiagRect">
            <a:avLst>
              <a:gd fmla="val 0" name="adj1"/>
              <a:gd fmla="val 447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1" name="Google Shape;591;p47"/>
          <p:cNvSpPr/>
          <p:nvPr/>
        </p:nvSpPr>
        <p:spPr>
          <a:xfrm>
            <a:off x="4958025" y="3862261"/>
            <a:ext cx="256500" cy="279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2" name="Google Shape;592;p47"/>
          <p:cNvSpPr/>
          <p:nvPr/>
        </p:nvSpPr>
        <p:spPr>
          <a:xfrm>
            <a:off x="7502550" y="2574129"/>
            <a:ext cx="256500" cy="279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3" name="Google Shape;593;p47"/>
          <p:cNvSpPr txBox="1"/>
          <p:nvPr>
            <p:ph type="title"/>
          </p:nvPr>
        </p:nvSpPr>
        <p:spPr>
          <a:xfrm>
            <a:off x="1216825" y="382942"/>
            <a:ext cx="6480300" cy="60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Risk Management (Top-3 Risks)</a:t>
            </a:r>
            <a:endParaRPr b="1" sz="3000"/>
          </a:p>
        </p:txBody>
      </p:sp>
      <p:pic>
        <p:nvPicPr>
          <p:cNvPr descr="Close-up of a hand holding a stylus over a large tablet screen. " id="594" name="Google Shape;594;p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7015" r="11631" t="0"/>
          <a:stretch/>
        </p:blipFill>
        <p:spPr>
          <a:xfrm>
            <a:off x="1446025" y="1291825"/>
            <a:ext cx="1232400" cy="1283100"/>
          </a:xfrm>
          <a:prstGeom prst="snip1Rect">
            <a:avLst>
              <a:gd fmla="val 16667" name="adj"/>
            </a:avLst>
          </a:prstGeom>
        </p:spPr>
      </p:pic>
      <p:pic>
        <p:nvPicPr>
          <p:cNvPr descr="A close-up of hands interacting with a tablet screen. " id="595" name="Google Shape;595;p47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21944" r="14038" t="0"/>
          <a:stretch/>
        </p:blipFill>
        <p:spPr>
          <a:xfrm>
            <a:off x="6526650" y="1291825"/>
            <a:ext cx="1232400" cy="1283100"/>
          </a:xfrm>
          <a:prstGeom prst="snip1Rect">
            <a:avLst>
              <a:gd fmla="val 16667" name="adj"/>
            </a:avLst>
          </a:prstGeom>
        </p:spPr>
      </p:pic>
      <p:pic>
        <p:nvPicPr>
          <p:cNvPr descr="A close-up of hands interacting with a smartphone" id="596" name="Google Shape;596;p47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34484" l="0" r="45265" t="27267"/>
          <a:stretch/>
        </p:blipFill>
        <p:spPr>
          <a:xfrm>
            <a:off x="3982125" y="2570200"/>
            <a:ext cx="1232400" cy="1292100"/>
          </a:xfrm>
          <a:prstGeom prst="snip1Rect">
            <a:avLst>
              <a:gd fmla="val 16667" name="adj"/>
            </a:avLst>
          </a:prstGeom>
        </p:spPr>
      </p:pic>
      <p:sp>
        <p:nvSpPr>
          <p:cNvPr id="597" name="Google Shape;597;p47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feature</a:t>
            </a:r>
            <a:endParaRPr/>
          </a:p>
        </p:txBody>
      </p:sp>
      <p:sp>
        <p:nvSpPr>
          <p:cNvPr id="598" name="Google Shape;598;p47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a product feature and how it benefits the user. Bring it to life with clear, vivid language.</a:t>
            </a:r>
            <a:endParaRPr/>
          </a:p>
        </p:txBody>
      </p:sp>
      <p:sp>
        <p:nvSpPr>
          <p:cNvPr id="599" name="Google Shape;599;p47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feature</a:t>
            </a:r>
            <a:endParaRPr/>
          </a:p>
        </p:txBody>
      </p:sp>
      <p:sp>
        <p:nvSpPr>
          <p:cNvPr id="600" name="Google Shape;600;p47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another product feature. Think about how this feature helps solve the problem you identified earlier.</a:t>
            </a:r>
            <a:endParaRPr/>
          </a:p>
        </p:txBody>
      </p:sp>
      <p:sp>
        <p:nvSpPr>
          <p:cNvPr id="601" name="Google Shape;601;p47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feature</a:t>
            </a:r>
            <a:endParaRPr/>
          </a:p>
        </p:txBody>
      </p:sp>
      <p:sp>
        <p:nvSpPr>
          <p:cNvPr id="602" name="Google Shape;602;p47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features as you need to describe your product. You can duplicate this slide if you need more items.</a:t>
            </a:r>
            <a:endParaRPr/>
          </a:p>
        </p:txBody>
      </p:sp>
      <p:sp>
        <p:nvSpPr>
          <p:cNvPr id="603" name="Google Shape;603;p47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04" name="Google Shape;604;p47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05" name="Google Shape;605;p47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606" name="Google Shape;606;p47"/>
          <p:cNvPicPr preferRelativeResize="0"/>
          <p:nvPr/>
        </p:nvPicPr>
        <p:blipFill rotWithShape="1">
          <a:blip r:embed="rId6">
            <a:alphaModFix/>
          </a:blip>
          <a:srcRect b="0" l="0" r="0" t="22999"/>
          <a:stretch/>
        </p:blipFill>
        <p:spPr>
          <a:xfrm>
            <a:off x="0" y="1037975"/>
            <a:ext cx="9144000" cy="410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8"/>
          <p:cNvSpPr/>
          <p:nvPr/>
        </p:nvSpPr>
        <p:spPr>
          <a:xfrm>
            <a:off x="46350" y="975904"/>
            <a:ext cx="1446900" cy="39363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2" name="Google Shape;612;p48"/>
          <p:cNvSpPr/>
          <p:nvPr/>
        </p:nvSpPr>
        <p:spPr>
          <a:xfrm>
            <a:off x="1570992" y="963838"/>
            <a:ext cx="1446900" cy="39363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3" name="Google Shape;613;p48"/>
          <p:cNvSpPr/>
          <p:nvPr/>
        </p:nvSpPr>
        <p:spPr>
          <a:xfrm>
            <a:off x="3140435" y="963838"/>
            <a:ext cx="1446900" cy="39363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4" name="Google Shape;614;p48"/>
          <p:cNvSpPr/>
          <p:nvPr/>
        </p:nvSpPr>
        <p:spPr>
          <a:xfrm>
            <a:off x="4662835" y="963825"/>
            <a:ext cx="1446900" cy="39363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5" name="Google Shape;615;p48"/>
          <p:cNvSpPr/>
          <p:nvPr/>
        </p:nvSpPr>
        <p:spPr>
          <a:xfrm>
            <a:off x="6211150" y="963850"/>
            <a:ext cx="1446900" cy="39363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Back-End Develope</a:t>
            </a: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</a:t>
            </a:r>
            <a:endParaRPr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lt1"/>
                </a:solidFill>
              </a:rPr>
              <a:t>Contributions: </a:t>
            </a:r>
            <a:r>
              <a:rPr lang="en" sz="1100">
                <a:solidFill>
                  <a:schemeClr val="lt1"/>
                </a:solidFill>
              </a:rPr>
              <a:t> 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Help build backend functions for voice input and responses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Manage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conversation data storage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16.6%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6" name="Google Shape;616;p48"/>
          <p:cNvSpPr/>
          <p:nvPr/>
        </p:nvSpPr>
        <p:spPr>
          <a:xfrm>
            <a:off x="46350" y="975904"/>
            <a:ext cx="1337100" cy="5562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17" name="Google Shape;617;p48"/>
          <p:cNvSpPr/>
          <p:nvPr/>
        </p:nvSpPr>
        <p:spPr>
          <a:xfrm>
            <a:off x="1570993" y="963838"/>
            <a:ext cx="1337100" cy="5562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18" name="Google Shape;618;p48"/>
          <p:cNvSpPr/>
          <p:nvPr/>
        </p:nvSpPr>
        <p:spPr>
          <a:xfrm>
            <a:off x="3140429" y="963838"/>
            <a:ext cx="1337100" cy="5562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19" name="Google Shape;619;p48"/>
          <p:cNvSpPr/>
          <p:nvPr/>
        </p:nvSpPr>
        <p:spPr>
          <a:xfrm>
            <a:off x="4718440" y="963825"/>
            <a:ext cx="1337100" cy="5562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20" name="Google Shape;620;p48"/>
          <p:cNvSpPr/>
          <p:nvPr/>
        </p:nvSpPr>
        <p:spPr>
          <a:xfrm>
            <a:off x="6211153" y="963850"/>
            <a:ext cx="1318200" cy="5562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21" name="Google Shape;621;p48"/>
          <p:cNvSpPr txBox="1"/>
          <p:nvPr>
            <p:ph type="title"/>
          </p:nvPr>
        </p:nvSpPr>
        <p:spPr>
          <a:xfrm>
            <a:off x="787750" y="228600"/>
            <a:ext cx="7932900" cy="54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Each Member's Contribution &amp; Responsibilities (%)</a:t>
            </a:r>
            <a:endParaRPr b="1" sz="2600"/>
          </a:p>
        </p:txBody>
      </p:sp>
      <p:sp>
        <p:nvSpPr>
          <p:cNvPr id="622" name="Google Shape;622;p48"/>
          <p:cNvSpPr txBox="1"/>
          <p:nvPr>
            <p:ph idx="2" type="subTitle"/>
          </p:nvPr>
        </p:nvSpPr>
        <p:spPr>
          <a:xfrm>
            <a:off x="46350" y="987969"/>
            <a:ext cx="1337100" cy="53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Madina Maingua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3" name="Google Shape;623;p48"/>
          <p:cNvSpPr txBox="1"/>
          <p:nvPr>
            <p:ph idx="3" type="subTitle"/>
          </p:nvPr>
        </p:nvSpPr>
        <p:spPr>
          <a:xfrm>
            <a:off x="1570004" y="975904"/>
            <a:ext cx="1446900" cy="53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Nathaniel Joseph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4" name="Google Shape;624;p48"/>
          <p:cNvSpPr txBox="1"/>
          <p:nvPr>
            <p:ph idx="4" type="subTitle"/>
          </p:nvPr>
        </p:nvSpPr>
        <p:spPr>
          <a:xfrm>
            <a:off x="3140431" y="975904"/>
            <a:ext cx="1337100" cy="53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Sayed Babiker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5" name="Google Shape;625;p48"/>
          <p:cNvSpPr txBox="1"/>
          <p:nvPr>
            <p:ph idx="5" type="subTitle"/>
          </p:nvPr>
        </p:nvSpPr>
        <p:spPr>
          <a:xfrm>
            <a:off x="4718442" y="975890"/>
            <a:ext cx="1337100" cy="53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Yashwanth Pentakota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6" name="Google Shape;626;p48"/>
          <p:cNvSpPr txBox="1"/>
          <p:nvPr>
            <p:ph idx="6" type="subTitle"/>
          </p:nvPr>
        </p:nvSpPr>
        <p:spPr>
          <a:xfrm>
            <a:off x="6198725" y="975915"/>
            <a:ext cx="1243200" cy="53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Chukwudera Duru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7" name="Google Shape;627;p48"/>
          <p:cNvSpPr txBox="1"/>
          <p:nvPr>
            <p:ph idx="7" type="body"/>
          </p:nvPr>
        </p:nvSpPr>
        <p:spPr>
          <a:xfrm>
            <a:off x="150874" y="1739001"/>
            <a:ext cx="12606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/>
              <a:t>Responsibilities</a:t>
            </a:r>
            <a:r>
              <a:rPr lang="en" sz="1100" u="sng"/>
              <a:t>:</a:t>
            </a:r>
            <a:endParaRPr sz="11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Team Lead; Front-End Developer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/>
              <a:t>Contributions</a:t>
            </a:r>
            <a:r>
              <a:rPr lang="en" sz="1100" u="sng"/>
              <a:t>: </a:t>
            </a:r>
            <a:r>
              <a:rPr lang="en" sz="1100"/>
              <a:t>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the project plan and guided the team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help build the main user interface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16.6%</a:t>
            </a:r>
            <a:endParaRPr sz="1200"/>
          </a:p>
        </p:txBody>
      </p:sp>
      <p:sp>
        <p:nvSpPr>
          <p:cNvPr id="628" name="Google Shape;628;p48"/>
          <p:cNvSpPr txBox="1"/>
          <p:nvPr>
            <p:ph idx="9" type="body"/>
          </p:nvPr>
        </p:nvSpPr>
        <p:spPr>
          <a:xfrm>
            <a:off x="3195277" y="1641565"/>
            <a:ext cx="1337100" cy="290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/>
              <a:t>Responsibilities</a:t>
            </a:r>
            <a:r>
              <a:rPr lang="en" sz="1200" u="sng"/>
              <a:t>:</a:t>
            </a:r>
            <a:endParaRPr sz="12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Front-End Developer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/>
              <a:t>Contributions: </a:t>
            </a:r>
            <a:r>
              <a:rPr lang="en" sz="1100"/>
              <a:t>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user interface features for the voice agent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 Connect the interface to the backend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16.6%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8"/>
          <p:cNvSpPr txBox="1"/>
          <p:nvPr>
            <p:ph idx="13" type="body"/>
          </p:nvPr>
        </p:nvSpPr>
        <p:spPr>
          <a:xfrm>
            <a:off x="4752266" y="1641551"/>
            <a:ext cx="1337100" cy="290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</a:rPr>
              <a:t>Responsibilities</a:t>
            </a:r>
            <a:r>
              <a:rPr lang="en" sz="1200" u="sng">
                <a:latin typeface="Arial"/>
                <a:ea typeface="Arial"/>
                <a:cs typeface="Arial"/>
                <a:sym typeface="Arial"/>
              </a:rPr>
              <a:t>:</a:t>
            </a:r>
            <a:endParaRPr sz="12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Front-End Developer / Risk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</a:rPr>
              <a:t>Contributions</a:t>
            </a:r>
            <a:r>
              <a:rPr lang="en" sz="1300" u="sng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/>
              <a:t>dentify project risks and ways to reduce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 with front-end work and testing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16.6%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8"/>
          <p:cNvSpPr txBox="1"/>
          <p:nvPr>
            <p:ph idx="14" type="body"/>
          </p:nvPr>
        </p:nvSpPr>
        <p:spPr>
          <a:xfrm>
            <a:off x="6365631" y="1750095"/>
            <a:ext cx="10887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</a:rPr>
              <a:t>Responsibilities</a:t>
            </a:r>
            <a:r>
              <a:rPr lang="en"/>
              <a:t>:</a:t>
            </a:r>
            <a:endParaRPr/>
          </a:p>
        </p:txBody>
      </p:sp>
      <p:sp>
        <p:nvSpPr>
          <p:cNvPr id="631" name="Google Shape;631;p48"/>
          <p:cNvSpPr txBox="1"/>
          <p:nvPr>
            <p:ph idx="7" type="body"/>
          </p:nvPr>
        </p:nvSpPr>
        <p:spPr>
          <a:xfrm>
            <a:off x="1640189" y="1693459"/>
            <a:ext cx="1337100" cy="24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/>
              <a:t>Responsibilities</a:t>
            </a:r>
            <a:r>
              <a:rPr lang="en" sz="1200" u="sng"/>
              <a:t>:</a:t>
            </a:r>
            <a:endParaRPr sz="12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Front-End Developer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/>
              <a:t>Contributions: </a:t>
            </a:r>
            <a:r>
              <a:rPr lang="en" sz="1100"/>
              <a:t>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screen layouts and user 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Helpe test and fix front-end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16.6%</a:t>
            </a:r>
            <a:endParaRPr sz="1200"/>
          </a:p>
        </p:txBody>
      </p:sp>
      <p:sp>
        <p:nvSpPr>
          <p:cNvPr id="632" name="Google Shape;632;p48"/>
          <p:cNvSpPr/>
          <p:nvPr/>
        </p:nvSpPr>
        <p:spPr>
          <a:xfrm>
            <a:off x="7752900" y="963838"/>
            <a:ext cx="1337100" cy="39363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Back-End Developer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 u="sng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 u="sng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Contributions: </a:t>
            </a: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" sz="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Set up AWS services for the project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Help connect and prepare the system for launch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16.6%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7752894" y="963804"/>
            <a:ext cx="1188000" cy="5562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34" name="Google Shape;634;p48"/>
          <p:cNvSpPr txBox="1"/>
          <p:nvPr>
            <p:ph idx="6" type="subTitle"/>
          </p:nvPr>
        </p:nvSpPr>
        <p:spPr>
          <a:xfrm>
            <a:off x="7630782" y="975880"/>
            <a:ext cx="1104300" cy="53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Alvin Ododa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5" name="Google Shape;635;p48"/>
          <p:cNvSpPr txBox="1"/>
          <p:nvPr>
            <p:ph idx="14" type="body"/>
          </p:nvPr>
        </p:nvSpPr>
        <p:spPr>
          <a:xfrm>
            <a:off x="8043915" y="1756081"/>
            <a:ext cx="9810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/>
              <a:t>Responsibilities</a:t>
            </a:r>
            <a:r>
              <a:rPr lang="en" sz="700"/>
              <a:t>: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